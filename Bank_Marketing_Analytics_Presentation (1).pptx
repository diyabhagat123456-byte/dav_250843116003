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731520"/>
            <a:ext cx="2103120" cy="2103120"/>
          </a:xfrm>
          <a:prstGeom prst="ellipse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965960"/>
            <a:ext cx="1188720" cy="1188720"/>
          </a:xfrm>
          <a:prstGeom prst="ellipse">
            <a:avLst/>
          </a:prstGeom>
          <a:solidFill>
            <a:srgbClr val="53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2743200"/>
            <a:ext cx="914400" cy="914400"/>
          </a:xfrm>
          <a:prstGeom prst="ellipse">
            <a:avLst/>
          </a:prstGeom>
          <a:solidFill>
            <a:srgbClr val="3E5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389024"/>
            <a:ext cx="1569896" cy="1576935"/>
          </a:xfrm>
          <a:prstGeom prst="ellipse">
            <a:avLst/>
          </a:prstGeom>
          <a:solidFill>
            <a:srgbClr val="FFFFFF"/>
          </a:solidFill>
          <a:ln>
            <a:solidFill>
              <a:srgbClr val="53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753344"/>
            <a:ext cx="685800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rPr lang="en-US" dirty="0" err="1"/>
              <a:t>R.N.G</a:t>
            </a:r>
            <a:r>
              <a:rPr lang="en-US" dirty="0"/>
              <a:t> Patel Institute Of Technology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8503920" cy="2985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1">
                <a:solidFill>
                  <a:srgbClr val="53C4FF"/>
                </a:solidFill>
                <a:latin typeface="Aptos"/>
              </a:defRPr>
            </a:pPr>
            <a:r>
              <a:rPr dirty="0"/>
              <a:t>SUBJECT: </a:t>
            </a:r>
            <a:r>
              <a:rPr lang="en-US" dirty="0"/>
              <a:t>Data Visualization And Analytics</a:t>
            </a:r>
            <a:r>
              <a:rPr dirty="0"/>
              <a:t>  |  CODE:</a:t>
            </a:r>
            <a:r>
              <a:rPr lang="en-US" dirty="0"/>
              <a:t> </a:t>
            </a:r>
            <a:r>
              <a:rPr lang="en-US" dirty="0" err="1"/>
              <a:t>1IT508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9423826" cy="102181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rPr sz="3200" dirty="0"/>
              <a:t>BANK MARKETING</a:t>
            </a:r>
            <a:br>
              <a:rPr sz="3200" dirty="0"/>
            </a:br>
            <a:r>
              <a:rPr sz="3200" dirty="0"/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466419"/>
            <a:ext cx="7955279" cy="1421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PEN NO</a:t>
            </a:r>
            <a:r>
              <a:rPr lang="en-US" dirty="0"/>
              <a:t>: 250843116003</a:t>
            </a:r>
          </a:p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                   250843116009</a:t>
            </a:r>
          </a:p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                   250843116015</a:t>
            </a:r>
          </a:p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                   240840116102</a:t>
            </a:r>
            <a:br>
              <a:rPr dirty="0"/>
            </a:br>
            <a:r>
              <a:rPr dirty="0"/>
              <a:t>GROUP NAME: </a:t>
            </a:r>
            <a:r>
              <a:rPr lang="en-US" dirty="0"/>
              <a:t>Tech Queens</a:t>
            </a:r>
            <a:br>
              <a:rPr dirty="0"/>
            </a:b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65398E-2A0B-6123-157A-586EF1C1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9025"/>
            <a:ext cx="1569895" cy="1576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01 | Dataset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Understanding the Bank Marketing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32004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Dataset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2004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11,162 customer records</a:t>
            </a:r>
            <a:br/>
            <a:r>
              <a:t>17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45336"/>
            <a:ext cx="32004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47672"/>
            <a:ext cx="32004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deposit = yes / no</a:t>
            </a:r>
            <a:br/>
            <a:r>
              <a:t>Predicts term-deposit subscription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545336"/>
            <a:ext cx="32004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47672"/>
            <a:ext cx="32004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Numerical: age, balance, duration, campaign</a:t>
            </a:r>
            <a:br/>
            <a:r>
              <a:t>Categorical: job, education, month, poutcome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698480" cy="256032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3044"/>
                </a:solidFill>
                <a:latin typeface="Aptos"/>
              </a:defRPr>
            </a:pPr>
            <a:r>
              <a:rPr dirty="0"/>
              <a:t>•  Customer details include age, job, marital status and education.</a:t>
            </a:r>
          </a:p>
          <a:p>
            <a:pPr>
              <a:spcAft>
                <a:spcPts val="1000"/>
              </a:spcAft>
              <a:defRPr sz="1700">
                <a:solidFill>
                  <a:srgbClr val="223044"/>
                </a:solidFill>
                <a:latin typeface="Aptos"/>
              </a:defRPr>
            </a:pPr>
            <a:r>
              <a:rPr dirty="0"/>
              <a:t>•  Campaign details include contact method, month, duration and number of contacts.</a:t>
            </a:r>
          </a:p>
          <a:p>
            <a:pPr>
              <a:spcAft>
                <a:spcPts val="1000"/>
              </a:spcAft>
              <a:defRPr sz="1700">
                <a:solidFill>
                  <a:srgbClr val="223044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pdays</a:t>
            </a:r>
            <a:r>
              <a:rPr dirty="0"/>
              <a:t> = -1 indicates the customer was not previously contacted.</a:t>
            </a:r>
          </a:p>
          <a:p>
            <a:pPr>
              <a:spcAft>
                <a:spcPts val="1000"/>
              </a:spcAft>
              <a:defRPr sz="1700">
                <a:solidFill>
                  <a:srgbClr val="223044"/>
                </a:solidFill>
                <a:latin typeface="Aptos"/>
              </a:defRPr>
            </a:pPr>
            <a:r>
              <a:rPr dirty="0"/>
              <a:t>•  Negative balances can be valid and should not be removed automatically.</a:t>
            </a:r>
          </a:p>
          <a:p>
            <a:pPr>
              <a:spcAft>
                <a:spcPts val="1000"/>
              </a:spcAft>
              <a:defRPr sz="1700">
                <a:solidFill>
                  <a:srgbClr val="223044"/>
                </a:solidFill>
                <a:latin typeface="Aptos"/>
              </a:defRPr>
            </a:pPr>
            <a:r>
              <a:rPr dirty="0"/>
              <a:t>•  The dataset supports analysis of subscription patterns across customer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02 | Data Preprocessing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Steps used to prepare the data for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45336"/>
            <a:ext cx="2011679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1. Load &amp;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2011679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rPr dirty="0"/>
              <a:t>Check rows, columns, sample records and data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545336"/>
            <a:ext cx="2011679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2. Check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93976"/>
            <a:ext cx="2011679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rPr dirty="0"/>
              <a:t>Identify null or blank values in each column.</a:t>
            </a:r>
            <a:r>
              <a:rPr lang="en-IN" dirty="0"/>
              <a:t> Found 0 missing values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545336"/>
            <a:ext cx="2011679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rPr dirty="0"/>
              <a:t>3. </a:t>
            </a:r>
            <a:r>
              <a:rPr lang="en-US" dirty="0"/>
              <a:t>Check</a:t>
            </a:r>
            <a:r>
              <a:rPr dirty="0"/>
              <a:t> 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56506"/>
            <a:ext cx="2011679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rPr dirty="0"/>
              <a:t>Check repeated rows.</a:t>
            </a:r>
            <a:r>
              <a:rPr lang="en-IN" dirty="0"/>
              <a:t> But have no duplicate values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928116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545336"/>
            <a:ext cx="2011679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4. Validate data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055335"/>
            <a:ext cx="2011679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rPr dirty="0"/>
              <a:t>Ensure numeric and categorical fields are correctly typed.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20440" y="32461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20440" y="3246120"/>
            <a:ext cx="73152" cy="141732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4" y="3374136"/>
            <a:ext cx="2011679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rPr lang="en-IN" dirty="0"/>
              <a:t>5</a:t>
            </a:r>
            <a:r>
              <a:rPr dirty="0"/>
              <a:t>. Check unusual 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7036" y="3303934"/>
            <a:ext cx="2011679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rPr lang="en-IN" dirty="0"/>
              <a:t>6</a:t>
            </a:r>
            <a:r>
              <a:rPr dirty="0"/>
              <a:t>. Validate &amp;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2183" y="3898294"/>
            <a:ext cx="2011679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Recheck cleaned data and save a new CSV for Power BI.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D6F659-A1E7-054B-0B9A-52D3E5DAE24D}"/>
              </a:ext>
            </a:extLst>
          </p:cNvPr>
          <p:cNvSpPr txBox="1"/>
          <p:nvPr/>
        </p:nvSpPr>
        <p:spPr>
          <a:xfrm>
            <a:off x="836676" y="3946864"/>
            <a:ext cx="2011679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rPr dirty="0"/>
              <a:t>Review age, balance, campaign and duration for invalid entries.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03 | Final Clean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What the cleaned dataset is used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150876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Clean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9143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Consistent columns and data types</a:t>
            </a:r>
            <a:br/>
            <a:r>
              <a:t>Ready for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150876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91056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Reliable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9143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Duplicates and invalid entries reviewed</a:t>
            </a:r>
            <a:br/>
            <a:r>
              <a:t>Missing/unknown values assessed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73152" cy="150876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591056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Analysis-ready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93392"/>
            <a:ext cx="3108960" cy="9143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deposit = yes / no</a:t>
            </a:r>
            <a:br/>
            <a:r>
              <a:t>Used to compare subscription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241280" cy="182880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3044"/>
                </a:solidFill>
                <a:latin typeface="Aptos"/>
              </a:defRPr>
            </a:pPr>
            <a:r>
              <a:rPr dirty="0"/>
              <a:t>•  The final dataset is imported into Power BI.</a:t>
            </a:r>
          </a:p>
          <a:p>
            <a:pPr>
              <a:spcAft>
                <a:spcPts val="1000"/>
              </a:spcAft>
              <a:defRPr sz="1800">
                <a:solidFill>
                  <a:srgbClr val="223044"/>
                </a:solidFill>
                <a:latin typeface="Aptos"/>
              </a:defRPr>
            </a:pPr>
            <a:r>
              <a:rPr dirty="0"/>
              <a:t>•  Customer and campaign fields group subscription outcomes.</a:t>
            </a:r>
          </a:p>
          <a:p>
            <a:pPr>
              <a:spcAft>
                <a:spcPts val="1000"/>
              </a:spcAft>
              <a:defRPr sz="1800">
                <a:solidFill>
                  <a:srgbClr val="223044"/>
                </a:solidFill>
                <a:latin typeface="Aptos"/>
              </a:defRPr>
            </a:pPr>
            <a:r>
              <a:rPr dirty="0"/>
              <a:t>•  The deposit column is used to calculate subscription counts and rates.</a:t>
            </a:r>
          </a:p>
          <a:p>
            <a:pPr>
              <a:spcAft>
                <a:spcPts val="1000"/>
              </a:spcAft>
              <a:defRPr sz="1800">
                <a:solidFill>
                  <a:srgbClr val="223044"/>
                </a:solidFill>
                <a:latin typeface="Aptos"/>
              </a:defRPr>
            </a:pPr>
            <a:r>
              <a:rPr dirty="0"/>
              <a:t>•  The cleaned CSV is saved separately so the original data remains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04 |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Bank Marketing Analytics — customer and campaign insights</a:t>
            </a:r>
          </a:p>
        </p:txBody>
      </p:sp>
      <p:pic>
        <p:nvPicPr>
          <p:cNvPr id="5" name="Picture 4" descr="dashbo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953634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DAA13-7EB9-6030-76E2-0DB00A1D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A3C0-EB77-715C-4031-DB5E5D4DF665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F6AC9-B3E7-A5E1-C0AF-041C62FD18B8}"/>
              </a:ext>
            </a:extLst>
          </p:cNvPr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04 | Power BI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55108-6AFF-A5C9-D8A3-AB6E0A2EC6C2}"/>
              </a:ext>
            </a:extLst>
          </p:cNvPr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Bank Marketing Analytics — customer and campaign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EC183-41E2-B9A1-4696-2C7026099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1234440"/>
            <a:ext cx="9197081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2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800" b="1">
                <a:solidFill>
                  <a:srgbClr val="0B2752"/>
                </a:solidFill>
                <a:latin typeface="Aptos"/>
              </a:defRPr>
            </a:pPr>
            <a:r>
              <a:t>05 | Dashboard Observations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68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576980"/>
                </a:solidFill>
                <a:latin typeface="Aptos"/>
              </a:defRPr>
            </a:pPr>
            <a:r>
              <a:t>What the current visuals suggest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45336"/>
            <a:ext cx="50292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Previous campaign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50292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The success category has the highest subscription rate in the displayed chart.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37160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45336"/>
            <a:ext cx="50292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Job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47672"/>
            <a:ext cx="50292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Student and retired categories appear among the higher subscription-rate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73152" cy="137160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191256"/>
            <a:ext cx="50292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Subscription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93592"/>
            <a:ext cx="50292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The donut shows a near-even split between yes and no; yes is slightly lower in this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73152" cy="1371600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191256"/>
            <a:ext cx="502920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00" b="1">
                <a:solidFill>
                  <a:srgbClr val="0B2752"/>
                </a:solidFill>
                <a:latin typeface="Aptos"/>
              </a:defRPr>
            </a:pPr>
            <a:r>
              <a:t>Monthly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93592"/>
            <a:ext cx="50292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23044"/>
                </a:solidFill>
                <a:latin typeface="Aptos"/>
              </a:defRPr>
            </a:pPr>
            <a:r>
              <a:t>Monthly results vary; confirm that the visual shows subscription rate rather than raw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400" b="0">
                <a:solidFill>
                  <a:srgbClr val="576980"/>
                </a:solidFill>
                <a:latin typeface="Aptos"/>
              </a:defRPr>
            </a:pPr>
            <a:r>
              <a:t>Insights are based on the screenshot. Verify chart field settings and calculations before presenting exact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0240" y="2377440"/>
            <a:ext cx="105156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240" y="320040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800" b="0">
                <a:solidFill>
                  <a:srgbClr val="E0F0FF"/>
                </a:solidFill>
                <a:latin typeface="Aptos"/>
              </a:defRPr>
            </a:pPr>
            <a:r>
              <a:t>Bank Marketing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487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Diya Bhagat</cp:lastModifiedBy>
  <cp:revision>4</cp:revision>
  <dcterms:created xsi:type="dcterms:W3CDTF">2013-01-27T09:14:16Z</dcterms:created>
  <dcterms:modified xsi:type="dcterms:W3CDTF">2026-10-12T10:33:47Z</dcterms:modified>
  <cp:category/>
</cp:coreProperties>
</file>